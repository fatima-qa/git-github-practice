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
          <p15:clr>
            <a:srgbClr val="747775"/>
          </p15:clr>
        </p15:guide>
        <p15:guide id="2" orient="horz" pos="594">
          <p15:clr>
            <a:srgbClr val="747775"/>
          </p15:clr>
        </p15:guide>
        <p15:guide id="3" pos="425">
          <p15:clr>
            <a:srgbClr val="747775"/>
          </p15:clr>
        </p15:guide>
        <p15:guide id="4" pos="5538">
          <p15:clr>
            <a:srgbClr val="747775"/>
          </p15:clr>
        </p15:guide>
        <p15:guide id="5" pos="270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78" y="72"/>
      </p:cViewPr>
      <p:guideLst>
        <p:guide orient="horz" pos="288"/>
        <p:guide orient="horz" pos="594"/>
        <p:guide pos="425"/>
        <p:guide pos="5538"/>
        <p:guide pos="270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6b82b6d33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 name="Google Shape;58;g36b82b6d331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adc110cb12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 name="Google Shape;64;g3adc110cb12_0_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b1b1cd07bf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 name="Google Shape;69;g3b1b1cd07bf_0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b1b1cd07bf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4" name="Google Shape;74;g3b1b1cd07bf_0_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b1b1cd07bf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9" name="Google Shape;79;g3b1b1cd07bf_0_3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b1b1cd07bf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 name="Google Shape;84;g3b1b1cd07bf_0_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b1b1cd07bf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g3b1b1cd07bf_0_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b1b1cd07bf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g3b1b1cd07bf_0_4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b1b1cd07bf_0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g3b1b1cd07bf_0_5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b1b1cd07bf_0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g3b1b1cd07bf_0_5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b1b1cd07bf_0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9" name="Google Shape;109;g3b1b1cd07bf_0_4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1b1cd07bf_0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4" name="Google Shape;114;g3b1b1cd07bf_0_5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bbe82ec97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g3abbe82ec97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www.instagram.com/p/DOi-5vcCI7M/"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www.instagram.com/reel/DPy4m5PgHKN/?igsh=dTdnaXZ5ejM2MDB2"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www.instagram.com/reel/DRIGs30jcpt/?igsh=aXRrYmtncnA5YmE3"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hyperlink" Target="https://www.instagram.com/reel/DRfH7GyDHLS/?igsh=a2gwNTd5aDZ0b201"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www.instagram.com/reel/DO7rafXAglH/?igsh=MXdhZDJwa3NtdzEwMg=="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www.instagram.com/reel/DR4WYx3kdrk/?igsh=dHBnY3RqYTZwNGwy"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hyperlink" Target="https://www.instagram.com/reel/DOWSIUpiVW0/?igsh=MWU2cGpzYzN2bjRweA=="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s://www.instagram.com/reel/DP0iiSFCCCT/?igsh=MTBoNWpmMWR6bjB3eA=="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www.instagram.com/reel/DPObUHkE2G2/?igsh=eDJmbHBwbDJpNHMx"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www.instagram.com/reel/DO6P5oZiCpm/?igsh=MWxlZHRkdDFsZmYybQ=="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www.instagram.com/reel/DHR1NnMSDLM/?igsh=MTZqZWhuZmFycXh0NQ=="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l="10565" t="35857" r="9993" b="34478"/>
          <a:stretch/>
        </p:blipFill>
        <p:spPr>
          <a:xfrm>
            <a:off x="3320150" y="1953975"/>
            <a:ext cx="3069750" cy="636824"/>
          </a:xfrm>
          <a:prstGeom prst="rect">
            <a:avLst/>
          </a:prstGeom>
          <a:noFill/>
          <a:ln>
            <a:noFill/>
          </a:ln>
        </p:spPr>
      </p:pic>
      <p:pic>
        <p:nvPicPr>
          <p:cNvPr id="61" name="Google Shape;61;p14"/>
          <p:cNvPicPr preferRelativeResize="0"/>
          <p:nvPr/>
        </p:nvPicPr>
        <p:blipFill>
          <a:blip r:embed="rId4">
            <a:alphaModFix/>
          </a:blip>
          <a:stretch>
            <a:fillRect/>
          </a:stretch>
        </p:blipFill>
        <p:spPr>
          <a:xfrm>
            <a:off x="0" y="0"/>
            <a:ext cx="1386575" cy="943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p:nvPr/>
        </p:nvSpPr>
        <p:spPr>
          <a:xfrm>
            <a:off x="370300" y="929325"/>
            <a:ext cx="8093400" cy="19395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300">
                <a:solidFill>
                  <a:schemeClr val="dk1"/>
                </a:solidFill>
                <a:latin typeface="Montserrat"/>
                <a:ea typeface="Montserrat"/>
                <a:cs typeface="Montserrat"/>
                <a:sym typeface="Montserrat"/>
              </a:rPr>
              <a:t>POV kadrla bir nəfərin hərəkətini görürük. Oyunun içindədir sanki. Otağa girir. Oyundaymış kimi yazılar ekrana çıxır. “Tapşırığı tamamla” Nümunədəki tərzdə sürətlə otağa daxil olur. Metak borusu yerdədir. Kamera ona çevriləndə yenidən yazı çıxır. “Uzunömürlü boru əldə et” Oyunçu borunu götürür və Ekran donur. Yazı çıxır. “Tapşırıq tamamlandı!” “+sərfəli qiymətə”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u="sng">
                <a:solidFill>
                  <a:schemeClr val="hlink"/>
                </a:solidFill>
                <a:latin typeface="Montserrat"/>
                <a:ea typeface="Montserrat"/>
                <a:cs typeface="Montserrat"/>
                <a:sym typeface="Montserrat"/>
                <a:hlinkClick r:id="rId3"/>
              </a:rPr>
              <a:t>Nümunə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p:nvPr/>
        </p:nvSpPr>
        <p:spPr>
          <a:xfrm>
            <a:off x="370300" y="929325"/>
            <a:ext cx="8093400" cy="21396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300">
                <a:solidFill>
                  <a:schemeClr val="dk1"/>
                </a:solidFill>
                <a:latin typeface="Montserrat"/>
                <a:ea typeface="Montserrat"/>
                <a:cs typeface="Montserrat"/>
                <a:sym typeface="Montserrat"/>
              </a:rPr>
              <a:t>Kadrda A və B xarakterini görürük. İkisi də əlində kağız tutub. Biri kameraya yaxın dayanıb. Digəri isə aralıdadır. Yaxındakı kağızda yazılıb: “Arxadakı qıza baxma”. Arxadakı qızın vərəqində isə yazılıb. “Açıqlama mətninə baxma”</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a:solidFill>
                  <a:schemeClr val="dk1"/>
                </a:solidFill>
                <a:latin typeface="Montserrat"/>
                <a:ea typeface="Montserrat"/>
                <a:cs typeface="Montserrat"/>
                <a:sym typeface="Montserrat"/>
              </a:rPr>
              <a:t>Postun altında açıqlamada yazılıb: “Pinlənmiş rəyə baxma”. Rəy yazılıb və pinlənib: Sərfəli qiymətə uzunömürlü borular əldə edin”</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u="sng">
                <a:solidFill>
                  <a:schemeClr val="hlink"/>
                </a:solidFill>
                <a:latin typeface="Montserrat"/>
                <a:ea typeface="Montserrat"/>
                <a:cs typeface="Montserrat"/>
                <a:sym typeface="Montserrat"/>
                <a:hlinkClick r:id="rId3"/>
              </a:rPr>
              <a:t>Nümunə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p:nvPr/>
        </p:nvSpPr>
        <p:spPr>
          <a:xfrm>
            <a:off x="370300" y="929325"/>
            <a:ext cx="8093400" cy="21396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300">
                <a:solidFill>
                  <a:schemeClr val="dk1"/>
                </a:solidFill>
                <a:latin typeface="Montserrat"/>
                <a:ea typeface="Montserrat"/>
                <a:cs typeface="Montserrat"/>
                <a:sym typeface="Montserrat"/>
              </a:rPr>
              <a:t>Kadrda bir nəfəri görürük. Həyəcanla telefonunu göstərir. “Bir dənə bura baxın” Bunu deyir və telefonda video göstərir. Sonra eyni video açılır. Eyni sözü deyir və yenidən eyni video açılır. Bir neçə dəfə təkrarlandıqdan sonra adamın əlində metak borusunu tutduğunu görürük. Danışır: Siz bilirsiniz? Metakın plastik boruları uzunömürlülüyü, sərfəli qiyməti, asanlıqla quraşdırıla bilməyi və sayıb bitirə bilməyəcəyimiz xüsusiyyətləri ilə seçilir. Nəyi gözləyirsiniz?</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u="sng">
                <a:solidFill>
                  <a:schemeClr val="hlink"/>
                </a:solidFill>
                <a:latin typeface="Montserrat"/>
                <a:ea typeface="Montserrat"/>
                <a:cs typeface="Montserrat"/>
                <a:sym typeface="Montserrat"/>
                <a:hlinkClick r:id="rId3"/>
              </a:rPr>
              <a:t>Nümunə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8"/>
          <p:cNvSpPr txBox="1"/>
          <p:nvPr/>
        </p:nvSpPr>
        <p:spPr>
          <a:xfrm>
            <a:off x="370300" y="929325"/>
            <a:ext cx="8093400" cy="19395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300">
                <a:solidFill>
                  <a:schemeClr val="dk1"/>
                </a:solidFill>
                <a:latin typeface="Montserrat"/>
                <a:ea typeface="Montserrat"/>
                <a:cs typeface="Montserrat"/>
                <a:sym typeface="Montserrat"/>
              </a:rPr>
              <a:t>Bir nəfərin otaqdan əlində metak borusu ilə çıxdığını görürük. Nümunədəki kimi kadr donur və “mouse” ilə boruya kliklənir. Borular dəyişir. Metakın növlərini görürük. Növbəti klikdən sonra nümunədəki tərz şriftlər və vizual elementlə yazı çıxır: Uzunömrlülük, Sərfəli qiymət, asan quraşdırılma.</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u="sng">
                <a:solidFill>
                  <a:schemeClr val="hlink"/>
                </a:solidFill>
                <a:latin typeface="Montserrat"/>
                <a:ea typeface="Montserrat"/>
                <a:cs typeface="Montserrat"/>
                <a:sym typeface="Montserrat"/>
                <a:hlinkClick r:id="rId3"/>
              </a:rPr>
              <a:t>Nümunə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9"/>
          <p:cNvSpPr txBox="1"/>
          <p:nvPr/>
        </p:nvSpPr>
        <p:spPr>
          <a:xfrm>
            <a:off x="370300" y="929325"/>
            <a:ext cx="8093400" cy="17394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300">
                <a:solidFill>
                  <a:schemeClr val="dk1"/>
                </a:solidFill>
                <a:latin typeface="Montserrat"/>
                <a:ea typeface="Montserrat"/>
                <a:cs typeface="Montserrat"/>
                <a:sym typeface="Montserrat"/>
              </a:rPr>
              <a:t>Görüntü həvəskar  çəkilişlə başlayır. Sanki kiminsə kamerasıdır. Gərgin atmosferdə musiqi gedir. Gərgin aura yaranır. Bir nəfər yıxılır. Digərləri isə ona tərəf qaçırlar. Növbəti kadrda isə hər kəsin otaqda sevinclə dayandığını və əllərində metak borularını tutduğunu görürük.</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u="sng">
                <a:solidFill>
                  <a:schemeClr val="hlink"/>
                </a:solidFill>
                <a:latin typeface="Montserrat"/>
                <a:ea typeface="Montserrat"/>
                <a:cs typeface="Montserrat"/>
                <a:sym typeface="Montserrat"/>
                <a:hlinkClick r:id="rId3"/>
              </a:rPr>
              <a:t>Nümunə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p:nvPr/>
        </p:nvSpPr>
        <p:spPr>
          <a:xfrm>
            <a:off x="370300" y="929325"/>
            <a:ext cx="8093400" cy="19395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300">
                <a:solidFill>
                  <a:schemeClr val="dk1"/>
                </a:solidFill>
                <a:latin typeface="Montserrat"/>
                <a:ea typeface="Montserrat"/>
                <a:cs typeface="Montserrat"/>
                <a:sym typeface="Montserrat"/>
              </a:rPr>
              <a:t>İki nəfər söhbət edir. Biri onların başının üstündədir. Ekranda telefonunun görüntüsünü görürük. Mesaj gəlib: “Tək bax” yazılıb. Sonra isə Tək səfərlik mesaj gəldiyini görürük. Qız həyəcanla oradan uzaqlaşır. Mümkünsə bir neçə yerdən keçdiyini görürük. Ardınca mesaja klikləyir və orada “Metak”ın logosu var. Kameraya tutur və görüntü ekrana packshot kimi gəlir.</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u="sng">
                <a:solidFill>
                  <a:schemeClr val="hlink"/>
                </a:solidFill>
                <a:latin typeface="Montserrat"/>
                <a:ea typeface="Montserrat"/>
                <a:cs typeface="Montserrat"/>
                <a:sym typeface="Montserrat"/>
                <a:hlinkClick r:id="rId3"/>
              </a:rPr>
              <a:t>Nümunə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1"/>
          <p:cNvSpPr txBox="1"/>
          <p:nvPr/>
        </p:nvSpPr>
        <p:spPr>
          <a:xfrm>
            <a:off x="370300" y="929325"/>
            <a:ext cx="8093400" cy="23397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300">
                <a:solidFill>
                  <a:schemeClr val="dk1"/>
                </a:solidFill>
                <a:latin typeface="Montserrat"/>
                <a:ea typeface="Montserrat"/>
                <a:cs typeface="Montserrat"/>
                <a:sym typeface="Montserrat"/>
              </a:rPr>
              <a:t>Trendə uyğun barmaq hərəkətini elədiyini görürük. Əvvəlcə barmaq silueti gəlir. Ardınca isə səhnələr:</a:t>
            </a:r>
            <a:endParaRPr sz="1300">
              <a:solidFill>
                <a:schemeClr val="dk1"/>
              </a:solidFill>
              <a:latin typeface="Montserrat"/>
              <a:ea typeface="Montserrat"/>
              <a:cs typeface="Montserrat"/>
              <a:sym typeface="Montserrat"/>
            </a:endParaRPr>
          </a:p>
          <a:p>
            <a:pPr marL="457200" lvl="0" indent="-311150" algn="l" rtl="0">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Borunu otaqda görürük. İrəli geri hərəkət edir. (Hər 3 ölçünü görürük.)</a:t>
            </a:r>
            <a:endParaRPr sz="1300">
              <a:solidFill>
                <a:schemeClr val="dk1"/>
              </a:solidFill>
              <a:latin typeface="Montserrat"/>
              <a:ea typeface="Montserrat"/>
              <a:cs typeface="Montserrat"/>
              <a:sym typeface="Montserrat"/>
            </a:endParaRPr>
          </a:p>
          <a:p>
            <a:pPr marL="457200" lvl="0" indent="-311150" algn="l" rtl="0">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Barmaq hara gedirsə, boru da ora uyğun hərəkət edir.</a:t>
            </a:r>
            <a:endParaRPr sz="1300">
              <a:solidFill>
                <a:schemeClr val="dk1"/>
              </a:solidFill>
              <a:latin typeface="Montserrat"/>
              <a:ea typeface="Montserrat"/>
              <a:cs typeface="Montserrat"/>
              <a:sym typeface="Montserrat"/>
            </a:endParaRPr>
          </a:p>
          <a:p>
            <a:pPr marL="457200" lvl="0" indent="-311150" algn="l" rtl="0">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Boru mexanizminin bir parçasıdır və irəli geri hərəkət edəndə mexanizmi tamamlayır.</a:t>
            </a:r>
            <a:endParaRPr sz="1300">
              <a:solidFill>
                <a:schemeClr val="dk1"/>
              </a:solidFill>
              <a:latin typeface="Montserrat"/>
              <a:ea typeface="Montserrat"/>
              <a:cs typeface="Montserrat"/>
              <a:sym typeface="Montserrat"/>
            </a:endParaRPr>
          </a:p>
          <a:p>
            <a:pPr marL="457200" lvl="0" indent="-311150" algn="l" rtl="0">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Barmağınızı görüntüyə uyğun hərəkət etdirin.</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u="sng">
                <a:solidFill>
                  <a:schemeClr val="hlink"/>
                </a:solidFill>
                <a:latin typeface="Montserrat"/>
                <a:ea typeface="Montserrat"/>
                <a:cs typeface="Montserrat"/>
                <a:sym typeface="Montserrat"/>
                <a:hlinkClick r:id="rId3"/>
              </a:rPr>
              <a:t>Nümunə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2"/>
          <p:cNvSpPr txBox="1"/>
          <p:nvPr/>
        </p:nvSpPr>
        <p:spPr>
          <a:xfrm>
            <a:off x="356250" y="226375"/>
            <a:ext cx="8652000" cy="46176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a:solidFill>
                  <a:schemeClr val="dk1"/>
                </a:solidFill>
              </a:rPr>
              <a:t>Videosu. 4 nəfərlə çəkiləcək. Əvvəlcə bir nəfərin zəng elədiyini görürük. Hər dialoq fərqli xarakterdir.</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Salam, sabah evdəyəm. Gəlib təzə boru quraşdıra bilərsiniz?</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Aha bəli. (Ardınca zəng edir.) Alo, mən sabah işdəyəm. Saçımı o biri gün düzəldərik. Gələ bilmirəm.</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Yaxşı. (Telefonu söndürür. Zəng edir) Alo, həyatım, mən sabah günorta evdə olacam. İşə getmə. Anangilə gedək.</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Yaxşı. (Yenidən zəng edir.) Alo, salam. Mən sabah bağçada olmayacam. Uşağı tez götürərsiz də.</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Birinci adama keçid edirik. Qadın səsi gəlir:</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Mən sabah uşağı götürüb tez gələcəm. Ustaya denən sabah gəlməsin.</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Yenidən döngü başlayır</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Alo, salam. Sabah alınmır. Sonra gələrsiz.</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Yaxşı. (Ardınca zəng) Alo, mən sabah işə gedəsi olmadım. Gələcəm də.</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Yaxşı. (Zəng) Alo, həyatım, sabah işim çıxdı, anangilə sonra gedərik.</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Yaxşı. (Zəng) Alo, salam, mən bağçada olacam. Neçədə istəsəz, götürün uşağı</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Birinci adama keçid edirik. Qadın səsi gəlir:</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Mən sabah uşağı gec götürəsi oldum. Ustaya denən, gəlsin.</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u="sng">
                <a:solidFill>
                  <a:schemeClr val="hlink"/>
                </a:solidFill>
                <a:latin typeface="Montserrat"/>
                <a:ea typeface="Montserrat"/>
                <a:cs typeface="Montserrat"/>
                <a:sym typeface="Montserrat"/>
                <a:hlinkClick r:id="rId3"/>
              </a:rPr>
              <a:t>Nümunə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3"/>
          <p:cNvSpPr txBox="1"/>
          <p:nvPr/>
        </p:nvSpPr>
        <p:spPr>
          <a:xfrm>
            <a:off x="370300" y="929325"/>
            <a:ext cx="8093400" cy="1679400"/>
          </a:xfrm>
          <a:prstGeom prst="rect">
            <a:avLst/>
          </a:prstGeom>
          <a:noFill/>
          <a:ln>
            <a:noFill/>
          </a:ln>
        </p:spPr>
        <p:txBody>
          <a:bodyPr spcFirstLastPara="1" wrap="square" lIns="68575" tIns="68575" rIns="68575" bIns="68575" anchor="t" anchorCtr="0">
            <a:spAutoFit/>
          </a:bodyPr>
          <a:lstStyle/>
          <a:p>
            <a:pPr marL="0" lvl="0" indent="0" algn="l" rtl="0">
              <a:lnSpc>
                <a:spcPct val="90000"/>
              </a:lnSpc>
              <a:spcBef>
                <a:spcPts val="800"/>
              </a:spcBef>
              <a:spcAft>
                <a:spcPts val="0"/>
              </a:spcAft>
              <a:buNone/>
            </a:pPr>
            <a:r>
              <a:rPr lang="en" sz="1300">
                <a:solidFill>
                  <a:schemeClr val="dk1"/>
                </a:solidFill>
                <a:latin typeface="Montserrat"/>
                <a:ea typeface="Montserrat"/>
                <a:cs typeface="Montserrat"/>
                <a:sym typeface="Montserrat"/>
              </a:rPr>
              <a:t>Kadrda metak borularının fərqli hissləri görünür amma bunlar hərəkət edir və borunun sadəcə kənar hissələri çərçivə formasında izləyici borunun hislərinin tam birləşdiyi anda videonu dayandırmalıdır. Başlıq olaraq da “ Doğru elementləri birləşdir” yazılıb.</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u="sng">
                <a:solidFill>
                  <a:schemeClr val="hlink"/>
                </a:solidFill>
                <a:latin typeface="Montserrat"/>
                <a:ea typeface="Montserrat"/>
                <a:cs typeface="Montserrat"/>
                <a:sym typeface="Montserrat"/>
                <a:hlinkClick r:id="rId3"/>
              </a:rPr>
              <a:t>Nümunə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4"/>
          <p:cNvSpPr txBox="1"/>
          <p:nvPr/>
        </p:nvSpPr>
        <p:spPr>
          <a:xfrm>
            <a:off x="370300" y="929325"/>
            <a:ext cx="8093400" cy="25398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300">
                <a:solidFill>
                  <a:schemeClr val="dk1"/>
                </a:solidFill>
                <a:latin typeface="Montserrat"/>
                <a:ea typeface="Montserrat"/>
                <a:cs typeface="Montserrat"/>
                <a:sym typeface="Montserrat"/>
              </a:rPr>
              <a:t>Nümunəki tərz musiqi və effektlərlə videonu izləyirik. Bir qız gəlir. Qapıdadır. Oğlan onu saxlayır.</a:t>
            </a:r>
            <a:endParaRPr sz="1300">
              <a:solidFill>
                <a:schemeClr val="dk1"/>
              </a:solidFill>
              <a:latin typeface="Montserrat"/>
              <a:ea typeface="Montserrat"/>
              <a:cs typeface="Montserrat"/>
              <a:sym typeface="Montserrat"/>
            </a:endParaRPr>
          </a:p>
          <a:p>
            <a:pPr marL="457200" lvl="0" indent="-311150" algn="l" rtl="0">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Qapı bağlıdır. İçəri girəcəksən?</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a:solidFill>
                  <a:schemeClr val="dk1"/>
                </a:solidFill>
                <a:latin typeface="Montserrat"/>
                <a:ea typeface="Montserrat"/>
                <a:cs typeface="Montserrat"/>
                <a:sym typeface="Montserrat"/>
              </a:rPr>
              <a:t>Qız tutulur. Dayanır.</a:t>
            </a:r>
            <a:endParaRPr sz="1300">
              <a:solidFill>
                <a:schemeClr val="dk1"/>
              </a:solidFill>
              <a:latin typeface="Montserrat"/>
              <a:ea typeface="Montserrat"/>
              <a:cs typeface="Montserrat"/>
              <a:sym typeface="Montserrat"/>
            </a:endParaRPr>
          </a:p>
          <a:p>
            <a:pPr marL="457200" lvl="0" indent="-311150" algn="l" rtl="0">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Sənə kömək eləyə bilərəm. Sağ əlini qaldır. Qapının dəstəyini tut. İçəri (və ya çölə) itələ.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a:solidFill>
                  <a:schemeClr val="dk1"/>
                </a:solidFill>
                <a:latin typeface="Montserrat"/>
                <a:ea typeface="Montserrat"/>
                <a:cs typeface="Montserrat"/>
                <a:sym typeface="Montserrat"/>
              </a:rPr>
              <a:t>Qız sifət edib qapını açanda içəridən bir usta əlində metak borusu ilə içəri girir.</a:t>
            </a:r>
            <a:endParaRPr sz="1300">
              <a:solidFill>
                <a:schemeClr val="dk1"/>
              </a:solidFill>
              <a:latin typeface="Montserrat"/>
              <a:ea typeface="Montserrat"/>
              <a:cs typeface="Montserrat"/>
              <a:sym typeface="Montserrat"/>
            </a:endParaRPr>
          </a:p>
          <a:p>
            <a:pPr marL="457200" lvl="0" indent="-311150" algn="l" rtl="0">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Metak boruları həm uzun ömürlüdür, həm də sərfəli qiymətə. Üstəlik onu quraşdırmaq bir qapını açmaq qədər asandır!</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u="sng">
                <a:solidFill>
                  <a:schemeClr val="hlink"/>
                </a:solidFill>
                <a:latin typeface="Montserrat"/>
                <a:ea typeface="Montserrat"/>
                <a:cs typeface="Montserrat"/>
                <a:sym typeface="Montserrat"/>
                <a:hlinkClick r:id="rId3"/>
              </a:rPr>
              <a:t>Nümunə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5"/>
          <p:cNvSpPr txBox="1"/>
          <p:nvPr/>
        </p:nvSpPr>
        <p:spPr>
          <a:xfrm>
            <a:off x="370300" y="929325"/>
            <a:ext cx="8093400" cy="19395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300">
                <a:solidFill>
                  <a:schemeClr val="dk1"/>
                </a:solidFill>
                <a:latin typeface="Montserrat"/>
                <a:ea typeface="Montserrat"/>
                <a:cs typeface="Montserrat"/>
                <a:sym typeface="Montserrat"/>
              </a:rPr>
              <a:t>Nümunədəki kimi çəkilmiş video görüntü görürük. Amma bizdə metak boru olacaq. Fonda televizor görünür. Ekranda “timelapse” şəklində mövsüm dəyişikliklərində metak borularının dayanıqlığını müşahidə edirik. Fəsillər dəyişdikcə mətnlər gəlir: “Dayanıqlılıq budur” “” “Metak- Hər şəraitdə nəticə”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 sz="1300" u="sng">
                <a:solidFill>
                  <a:schemeClr val="hlink"/>
                </a:solidFill>
                <a:latin typeface="Montserrat"/>
                <a:ea typeface="Montserrat"/>
                <a:cs typeface="Montserrat"/>
                <a:sym typeface="Montserrat"/>
                <a:hlinkClick r:id="rId3"/>
              </a:rPr>
              <a:t>Nümunə</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6"/>
          <p:cNvSpPr txBox="1"/>
          <p:nvPr/>
        </p:nvSpPr>
        <p:spPr>
          <a:xfrm>
            <a:off x="3211000" y="2229325"/>
            <a:ext cx="3017400" cy="5388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3500" b="1" i="1">
                <a:solidFill>
                  <a:srgbClr val="FF0000"/>
                </a:solidFill>
                <a:latin typeface="Montserrat"/>
                <a:ea typeface="Montserrat"/>
                <a:cs typeface="Montserrat"/>
                <a:sym typeface="Montserrat"/>
              </a:rPr>
              <a:t>Təşəkkürlər</a:t>
            </a:r>
            <a:endParaRPr sz="3500" b="1" i="1">
              <a:solidFill>
                <a:srgbClr val="FF0000"/>
              </a:solidFill>
              <a:latin typeface="Montserrat"/>
              <a:ea typeface="Montserrat"/>
              <a:cs typeface="Montserrat"/>
              <a:sym typeface="Montserrat"/>
            </a:endParaRPr>
          </a:p>
        </p:txBody>
      </p:sp>
      <p:sp>
        <p:nvSpPr>
          <p:cNvPr id="122" name="Google Shape;122;p26"/>
          <p:cNvSpPr/>
          <p:nvPr/>
        </p:nvSpPr>
        <p:spPr>
          <a:xfrm flipH="1">
            <a:off x="10525" y="12525"/>
            <a:ext cx="125100" cy="5143500"/>
          </a:xfrm>
          <a:prstGeom prst="rect">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 name="Google Shape;123;p26"/>
          <p:cNvSpPr/>
          <p:nvPr/>
        </p:nvSpPr>
        <p:spPr>
          <a:xfrm flipH="1">
            <a:off x="9018900" y="12525"/>
            <a:ext cx="125100" cy="5143500"/>
          </a:xfrm>
          <a:prstGeom prst="rect">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806</Words>
  <Application>Microsoft Office PowerPoint</Application>
  <PresentationFormat>On-screen Show (16:9)</PresentationFormat>
  <Paragraphs>80</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Montserrat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KUC</dc:creator>
  <cp:lastModifiedBy>Fatima Jamalova</cp:lastModifiedBy>
  <cp:revision>1</cp:revision>
  <dcterms:modified xsi:type="dcterms:W3CDTF">2025-12-18T20:33:14Z</dcterms:modified>
</cp:coreProperties>
</file>